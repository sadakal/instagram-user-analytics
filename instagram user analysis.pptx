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70" r:id="rId3"/>
    <p:sldId id="272" r:id="rId4"/>
    <p:sldId id="258" r:id="rId5"/>
    <p:sldId id="273" r:id="rId6"/>
    <p:sldId id="274" r:id="rId7"/>
    <p:sldId id="275" r:id="rId8"/>
    <p:sldId id="276" r:id="rId9"/>
    <p:sldId id="277" r:id="rId10"/>
    <p:sldId id="278" r:id="rId11"/>
    <p:sldId id="280" r:id="rId1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86" d="100"/>
          <a:sy n="86" d="100"/>
        </p:scale>
        <p:origin x="562" y="58"/>
      </p:cViewPr>
      <p:guideLst>
        <p:guide pos="3839"/>
        <p:guide orient="horz" pos="2160"/>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C8CEC3D-96F7-401F-9673-3EE7F75C9C5B}" type="datetimeFigureOut">
              <a:rPr lang="en-US"/>
              <a:t>3/5/2023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98ED8CD-4E4C-49AC-BDC6-2963BA49E54F}" type="slidenum">
              <a:rPr/>
              <a:t>‹#›</a:t>
            </a:fld>
            <a:endParaRPr/>
          </a:p>
        </p:txBody>
      </p:sp>
    </p:spTree>
    <p:extLst>
      <p:ext uri="{BB962C8B-B14F-4D97-AF65-F5344CB8AC3E}">
        <p14:creationId xmlns:p14="http://schemas.microsoft.com/office/powerpoint/2010/main" val="343417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32BCF4-D26D-4DAF-9F57-FE1E61FE7935}" type="datetimeFigureOut">
              <a:rPr lang="en-US"/>
              <a:t>3/5/2023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B91549-43BF-425A-AF25-75262019208C}" type="slidenum">
              <a:rPr/>
              <a:t>‹#›</a:t>
            </a:fld>
            <a:endParaRPr/>
          </a:p>
        </p:txBody>
      </p:sp>
    </p:spTree>
    <p:extLst>
      <p:ext uri="{BB962C8B-B14F-4D97-AF65-F5344CB8AC3E}">
        <p14:creationId xmlns:p14="http://schemas.microsoft.com/office/powerpoint/2010/main" val="423928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pic>
        <p:nvPicPr>
          <p:cNvPr id="5" name="Picture 4" descr="Looking up to clouds and blue sky surrounded by glass-walled buildings"/>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873625" y="0"/>
            <a:ext cx="7315200" cy="6858001"/>
          </a:xfrm>
          <a:prstGeom prst="rect">
            <a:avLst/>
          </a:prstGeom>
        </p:spPr>
      </p:pic>
      <p:sp>
        <p:nvSpPr>
          <p:cNvPr id="2" name="Title 1"/>
          <p:cNvSpPr>
            <a:spLocks noGrp="1"/>
          </p:cNvSpPr>
          <p:nvPr>
            <p:ph type="ctrTitle"/>
          </p:nvPr>
        </p:nvSpPr>
        <p:spPr>
          <a:xfrm>
            <a:off x="608013" y="685801"/>
            <a:ext cx="3962400" cy="4724399"/>
          </a:xfrm>
        </p:spPr>
        <p:txBody>
          <a:bodyPr>
            <a:normAutofit/>
          </a:bodyPr>
          <a:lstStyle>
            <a:lvl1pPr>
              <a:defRPr sz="4800"/>
            </a:lvl1pPr>
          </a:lstStyle>
          <a:p>
            <a:r>
              <a:rPr lang="en-US"/>
              <a:t>Click to edit Master title style</a:t>
            </a:r>
            <a:endParaRPr/>
          </a:p>
        </p:txBody>
      </p:sp>
      <p:sp>
        <p:nvSpPr>
          <p:cNvPr id="3" name="Subtitle 2"/>
          <p:cNvSpPr>
            <a:spLocks noGrp="1"/>
          </p:cNvSpPr>
          <p:nvPr>
            <p:ph type="subTitle" idx="1"/>
          </p:nvPr>
        </p:nvSpPr>
        <p:spPr>
          <a:xfrm>
            <a:off x="608013" y="5410200"/>
            <a:ext cx="3962400" cy="762000"/>
          </a:xfrm>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8" name="Date Placeholder 7"/>
          <p:cNvSpPr>
            <a:spLocks noGrp="1"/>
          </p:cNvSpPr>
          <p:nvPr>
            <p:ph type="dt" sz="half" idx="10"/>
          </p:nvPr>
        </p:nvSpPr>
        <p:spPr/>
        <p:txBody>
          <a:bodyPr/>
          <a:lstStyle/>
          <a:p>
            <a:fld id="{81C93FC7-9D1A-468B-98DB-D1E8D74418D9}" type="datetimeFigureOut">
              <a:rPr lang="en-US"/>
              <a:pPr/>
              <a:t>3/5/2023</a:t>
            </a:fld>
            <a:endParaRPr/>
          </a:p>
        </p:txBody>
      </p:sp>
      <p:sp>
        <p:nvSpPr>
          <p:cNvPr id="9" name="Footer Placeholder 8"/>
          <p:cNvSpPr>
            <a:spLocks noGrp="1"/>
          </p:cNvSpPr>
          <p:nvPr>
            <p:ph type="ftr" sz="quarter" idx="11"/>
          </p:nvPr>
        </p:nvSpPr>
        <p:spPr/>
        <p:txBody>
          <a:bodyPr/>
          <a:lstStyle/>
          <a:p>
            <a:r>
              <a:rPr lang="en-US" dirty="0"/>
              <a:t>Add a footer</a:t>
            </a:r>
          </a:p>
        </p:txBody>
      </p:sp>
      <p:sp>
        <p:nvSpPr>
          <p:cNvPr id="10" name="Slide Number Placeholder 9"/>
          <p:cNvSpPr>
            <a:spLocks noGrp="1"/>
          </p:cNvSpPr>
          <p:nvPr>
            <p:ph type="sldNum" sz="quarter" idx="12"/>
          </p:nvPr>
        </p:nvSpPr>
        <p:spPr/>
        <p:txBody>
          <a:bodyPr/>
          <a:lstStyle/>
          <a:p>
            <a:fld id="{A3F31473-23EB-4724-8B59-FE6D21D89FA4}" type="slidenum">
              <a:rPr/>
              <a:pPr/>
              <a:t>‹#›</a:t>
            </a:fld>
            <a:endParaRPr/>
          </a:p>
        </p:txBody>
      </p:sp>
    </p:spTree>
    <p:extLst>
      <p:ext uri="{BB962C8B-B14F-4D97-AF65-F5344CB8AC3E}">
        <p14:creationId xmlns:p14="http://schemas.microsoft.com/office/powerpoint/2010/main" val="2734839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1C93FC7-9D1A-468B-98DB-D1E8D74418D9}" type="datetimeFigureOut">
              <a:rPr lang="en-US"/>
              <a:t>3/5/2023</a:t>
            </a:fld>
            <a:endParaRPr/>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137862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90800"/>
            <a:ext cx="8229599" cy="2819400"/>
          </a:xfrm>
        </p:spPr>
        <p:txBody>
          <a:bodyPr anchor="b">
            <a:normAutofit/>
          </a:bodyPr>
          <a:lstStyle>
            <a:lvl1pPr algn="l">
              <a:defRPr sz="4800" b="0" cap="none" baseline="0"/>
            </a:lvl1pPr>
          </a:lstStyle>
          <a:p>
            <a:r>
              <a:rPr lang="en-US"/>
              <a:t>Click to edit Master title style</a:t>
            </a:r>
            <a:endParaRPr/>
          </a:p>
        </p:txBody>
      </p:sp>
      <p:sp>
        <p:nvSpPr>
          <p:cNvPr id="3" name="Text Placeholder 2"/>
          <p:cNvSpPr>
            <a:spLocks noGrp="1"/>
          </p:cNvSpPr>
          <p:nvPr>
            <p:ph type="body" idx="1"/>
          </p:nvPr>
        </p:nvSpPr>
        <p:spPr>
          <a:xfrm>
            <a:off x="606425" y="5410200"/>
            <a:ext cx="8231187" cy="762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81C93FC7-9D1A-468B-98DB-D1E8D74418D9}" type="datetimeFigureOut">
              <a:rPr lang="en-US"/>
              <a:pPr/>
              <a:t>3/5/2023</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A3F31473-23EB-4724-8B59-FE6D21D89FA4}" type="slidenum">
              <a:rPr/>
              <a:pPr/>
              <a:t>‹#›</a:t>
            </a:fld>
            <a:endParaRPr/>
          </a:p>
        </p:txBody>
      </p:sp>
    </p:spTree>
    <p:extLst>
      <p:ext uri="{BB962C8B-B14F-4D97-AF65-F5344CB8AC3E}">
        <p14:creationId xmlns:p14="http://schemas.microsoft.com/office/powerpoint/2010/main" val="322511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93813" y="685800"/>
            <a:ext cx="50292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4" y="685800"/>
            <a:ext cx="5029199"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81C93FC7-9D1A-468B-98DB-D1E8D74418D9}" type="datetimeFigureOut">
              <a:rPr lang="en-US"/>
              <a:t>3/5/2023</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89701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93664" y="685800"/>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3664" y="1676400"/>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685800"/>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0025" y="1676400"/>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81C93FC7-9D1A-468B-98DB-D1E8D74418D9}" type="datetimeFigureOut">
              <a:rPr lang="en-US"/>
              <a:t>3/5/2023</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51309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81C93FC7-9D1A-468B-98DB-D1E8D74418D9}" type="datetimeFigureOut">
              <a:rPr lang="en-US"/>
              <a:t>3/5/2023</a:t>
            </a:fld>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5" name="Slide Number Placeholder 4"/>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13442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93FC7-9D1A-468B-98DB-D1E8D74418D9}" type="datetimeFigureOut">
              <a:rPr lang="en-US"/>
              <a:t>3/5/2023</a:t>
            </a:fld>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4" name="Slide Number Placeholder 3"/>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191031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p:spPr>
        <p:txBody>
          <a:bodyPr anchor="b">
            <a:noAutofit/>
          </a:bodyPr>
          <a:lstStyle>
            <a:lvl1pPr algn="l">
              <a:defRPr sz="3600" b="0"/>
            </a:lvl1pPr>
          </a:lstStyle>
          <a:p>
            <a:r>
              <a:rPr lang="en-US"/>
              <a:t>Click to edit Master title style</a:t>
            </a:r>
            <a:endParaRPr/>
          </a:p>
        </p:txBody>
      </p:sp>
      <p:sp>
        <p:nvSpPr>
          <p:cNvPr id="3" name="Content Placeholder 2"/>
          <p:cNvSpPr>
            <a:spLocks noGrp="1"/>
          </p:cNvSpPr>
          <p:nvPr>
            <p:ph idx="1"/>
          </p:nvPr>
        </p:nvSpPr>
        <p:spPr>
          <a:xfrm>
            <a:off x="4875212" y="685800"/>
            <a:ext cx="6704171" cy="5486400"/>
          </a:xfrm>
        </p:spPr>
        <p:txBody>
          <a:bodyPr>
            <a:normAutofit/>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93FC7-9D1A-468B-98DB-D1E8D74418D9}" type="datetimeFigureOut">
              <a:rPr lang="en-US"/>
              <a:t>3/5/2023</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223472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p:spPr>
        <p:txBody>
          <a:bodyPr anchor="b">
            <a:normAutofit/>
          </a:bodyPr>
          <a:lstStyle>
            <a:lvl1pPr algn="l">
              <a:defRPr sz="36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4875213" y="685800"/>
            <a:ext cx="6705600" cy="5486400"/>
          </a:xfrm>
          <a:ln w="63500">
            <a:solidFill>
              <a:schemeClr val="bg1"/>
            </a:solidFill>
            <a:miter lim="800000"/>
          </a:ln>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93FC7-9D1A-468B-98DB-D1E8D74418D9}" type="datetimeFigureOut">
              <a:rPr lang="en-US"/>
              <a:t>3/5/2023</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352041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1C93FC7-9D1A-468B-98DB-D1E8D74418D9}" type="datetimeFigureOut">
              <a:rPr lang="en-US"/>
              <a:t>3/5/2023</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217629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2" y="685800"/>
            <a:ext cx="1295401"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8012" y="685800"/>
            <a:ext cx="9474253" cy="5486400"/>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1C93FC7-9D1A-468B-98DB-D1E8D74418D9}" type="datetimeFigureOut">
              <a:rPr lang="en-US"/>
              <a:t>3/5/2023</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850052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05400"/>
            <a:ext cx="10971372" cy="10668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93813" y="685800"/>
            <a:ext cx="10287000" cy="4190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2">
                    <a:lumMod val="65000"/>
                    <a:lumOff val="35000"/>
                  </a:schemeClr>
                </a:solidFill>
              </a:defRPr>
            </a:lvl1pPr>
          </a:lstStyle>
          <a:p>
            <a:fld id="{81C93FC7-9D1A-468B-98DB-D1E8D74418D9}" type="datetimeFigureOut">
              <a:rPr lang="en-US" smtClean="0"/>
              <a:pPr/>
              <a:t>3/5/2023</a:t>
            </a:fld>
            <a:endParaRPr lang="en-US" dirty="0"/>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2">
                    <a:lumMod val="65000"/>
                    <a:lumOff val="35000"/>
                  </a:schemeClr>
                </a:solidFill>
              </a:defRPr>
            </a:lvl1pPr>
          </a:lstStyle>
          <a:p>
            <a:r>
              <a:rPr lang="en-US" dirty="0"/>
              <a:t>Add a footer</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2">
                    <a:lumMod val="65000"/>
                    <a:lumOff val="35000"/>
                  </a:schemeClr>
                </a:solidFill>
              </a:defRPr>
            </a:lvl1pPr>
          </a:lstStyle>
          <a:p>
            <a:fld id="{A3F31473-23EB-4724-8B59-FE6D21D89FA4}" type="slidenum">
              <a:rPr lang="en-US" smtClean="0"/>
              <a:pPr/>
              <a:t>‹#›</a:t>
            </a:fld>
            <a:endParaRPr lang="en-US"/>
          </a:p>
        </p:txBody>
      </p:sp>
    </p:spTree>
    <p:extLst>
      <p:ext uri="{BB962C8B-B14F-4D97-AF65-F5344CB8AC3E}">
        <p14:creationId xmlns:p14="http://schemas.microsoft.com/office/powerpoint/2010/main" val="34492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tx1"/>
        </a:buClr>
        <a:buSzPct val="80000"/>
        <a:buFont typeface="Arial" pitchFamily="34" charset="0"/>
        <a:buChar char="•"/>
        <a:defRPr sz="2800" kern="1200">
          <a:solidFill>
            <a:schemeClr val="tx1"/>
          </a:solidFill>
          <a:latin typeface="+mn-lt"/>
          <a:ea typeface="+mn-ea"/>
          <a:cs typeface="+mn-cs"/>
        </a:defRPr>
      </a:lvl1pPr>
      <a:lvl2pPr marL="615950" indent="-285750" algn="l" defTabSz="914400" rtl="0" eaLnBrk="1" latinLnBrk="0" hangingPunct="1">
        <a:lnSpc>
          <a:spcPct val="90000"/>
        </a:lnSpc>
        <a:spcBef>
          <a:spcPts val="600"/>
        </a:spcBef>
        <a:buSzPct val="80000"/>
        <a:buFont typeface="Corbel" pitchFamily="34" charset="0"/>
        <a:buChar char="–"/>
        <a:defRPr sz="2400" kern="1200">
          <a:solidFill>
            <a:schemeClr val="tx1"/>
          </a:solidFill>
          <a:latin typeface="+mn-lt"/>
          <a:ea typeface="+mn-ea"/>
          <a:cs typeface="+mn-cs"/>
        </a:defRPr>
      </a:lvl2pPr>
      <a:lvl3pPr marL="996696"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3pPr>
      <a:lvl4pPr marL="1380744" indent="-283464" algn="l" defTabSz="914400" rtl="0" eaLnBrk="1" latinLnBrk="0" hangingPunct="1">
        <a:lnSpc>
          <a:spcPct val="90000"/>
        </a:lnSpc>
        <a:spcBef>
          <a:spcPts val="600"/>
        </a:spcBef>
        <a:buFont typeface="Corbel" pitchFamily="34" charset="0"/>
        <a:buChar char="–"/>
        <a:defRPr sz="1800" kern="1200">
          <a:solidFill>
            <a:schemeClr val="tx1"/>
          </a:solidFill>
          <a:latin typeface="+mn-lt"/>
          <a:ea typeface="+mn-ea"/>
          <a:cs typeface="+mn-cs"/>
        </a:defRPr>
      </a:lvl4pPr>
      <a:lvl5pPr marL="1764792"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5780" y="685800"/>
            <a:ext cx="3962400" cy="1375047"/>
          </a:xfrm>
        </p:spPr>
        <p:txBody>
          <a:bodyPr/>
          <a:lstStyle/>
          <a:p>
            <a:r>
              <a:rPr lang="en-US" dirty="0"/>
              <a:t>Instagram User Analytics</a:t>
            </a:r>
          </a:p>
        </p:txBody>
      </p:sp>
      <p:sp>
        <p:nvSpPr>
          <p:cNvPr id="3" name="Subtitle 2"/>
          <p:cNvSpPr>
            <a:spLocks noGrp="1"/>
          </p:cNvSpPr>
          <p:nvPr>
            <p:ph type="subTitle" idx="1"/>
          </p:nvPr>
        </p:nvSpPr>
        <p:spPr>
          <a:xfrm>
            <a:off x="2386980" y="2132856"/>
            <a:ext cx="3962400" cy="762000"/>
          </a:xfrm>
        </p:spPr>
        <p:txBody>
          <a:bodyPr>
            <a:normAutofit/>
          </a:bodyPr>
          <a:lstStyle/>
          <a:p>
            <a:r>
              <a:rPr lang="en-US" sz="1600" dirty="0"/>
              <a:t>By Aditya Sadakal.</a:t>
            </a:r>
          </a:p>
          <a:p>
            <a:endParaRPr lang="en-US" dirty="0"/>
          </a:p>
        </p:txBody>
      </p:sp>
    </p:spTree>
    <p:extLst>
      <p:ext uri="{BB962C8B-B14F-4D97-AF65-F5344CB8AC3E}">
        <p14:creationId xmlns:p14="http://schemas.microsoft.com/office/powerpoint/2010/main" val="34408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333772" y="152400"/>
            <a:ext cx="10971372" cy="1066800"/>
          </a:xfrm>
        </p:spPr>
        <p:txBody>
          <a:bodyPr/>
          <a:lstStyle/>
          <a:p>
            <a:r>
              <a:rPr lang="en-US" dirty="0"/>
              <a:t>Data Analytics on Instagram data.</a:t>
            </a:r>
          </a:p>
        </p:txBody>
      </p:sp>
      <p:sp>
        <p:nvSpPr>
          <p:cNvPr id="14" name="Content Placeholder 13"/>
          <p:cNvSpPr>
            <a:spLocks noGrp="1"/>
          </p:cNvSpPr>
          <p:nvPr>
            <p:ph idx="1"/>
          </p:nvPr>
        </p:nvSpPr>
        <p:spPr>
          <a:xfrm>
            <a:off x="359785" y="1844824"/>
            <a:ext cx="10287000" cy="4399756"/>
          </a:xfrm>
        </p:spPr>
        <p:txBody>
          <a:bodyPr>
            <a:normAutofit/>
          </a:bodyPr>
          <a:lstStyle/>
          <a:p>
            <a:pPr algn="just"/>
            <a:r>
              <a:rPr lang="en-US" sz="2400" dirty="0"/>
              <a:t>Let’s first stick to the definition of data analytics. As for me, Data Analytics means analyzing and extracting useful data from a given database to help organizations make decisions.</a:t>
            </a:r>
          </a:p>
          <a:p>
            <a:pPr algn="just"/>
            <a:r>
              <a:rPr lang="en-US" sz="2400" dirty="0"/>
              <a:t>In this project, we have been provided with an Instagram dataset and asked to analyze and answer a few questions. This means we are going to exploit the dataset using SQL and find out the answer which will help the Instagram team to take decisions to make the app more fun and versatile.</a:t>
            </a:r>
          </a:p>
          <a:p>
            <a:pPr algn="just"/>
            <a:r>
              <a:rPr lang="en-US" sz="2400" dirty="0"/>
              <a:t>This project will help Instagram marketing and investors to get the most out of it.</a:t>
            </a:r>
          </a:p>
        </p:txBody>
      </p:sp>
    </p:spTree>
    <p:extLst>
      <p:ext uri="{BB962C8B-B14F-4D97-AF65-F5344CB8AC3E}">
        <p14:creationId xmlns:p14="http://schemas.microsoft.com/office/powerpoint/2010/main" val="112672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48" y="360785"/>
            <a:ext cx="10827356" cy="1066800"/>
          </a:xfrm>
        </p:spPr>
        <p:txBody>
          <a:bodyPr/>
          <a:lstStyle/>
          <a:p>
            <a:r>
              <a:rPr lang="en-US" dirty="0"/>
              <a:t>Approach</a:t>
            </a:r>
          </a:p>
        </p:txBody>
      </p:sp>
      <p:sp>
        <p:nvSpPr>
          <p:cNvPr id="5" name="Content Placeholder 4"/>
          <p:cNvSpPr>
            <a:spLocks noGrp="1"/>
          </p:cNvSpPr>
          <p:nvPr>
            <p:ph sz="half" idx="1"/>
          </p:nvPr>
        </p:nvSpPr>
        <p:spPr>
          <a:xfrm>
            <a:off x="359840" y="1844824"/>
            <a:ext cx="10971372" cy="4118991"/>
          </a:xfrm>
        </p:spPr>
        <p:txBody>
          <a:bodyPr/>
          <a:lstStyle/>
          <a:p>
            <a:pPr marL="0" indent="0">
              <a:buNone/>
            </a:pPr>
            <a:r>
              <a:rPr lang="en-US" dirty="0"/>
              <a:t>This project gives me quite good insight into how things work in the industry and how the data is used to take decisions.</a:t>
            </a:r>
          </a:p>
          <a:p>
            <a:pPr marL="0" indent="0">
              <a:buNone/>
            </a:pPr>
            <a:r>
              <a:rPr lang="en-US" dirty="0"/>
              <a:t>Marketing and investing are the most important parts for an organization to grow. So a detailed study is a must before taking any decisions.</a:t>
            </a:r>
          </a:p>
          <a:p>
            <a:pPr marL="0" indent="0">
              <a:buNone/>
            </a:pPr>
            <a:r>
              <a:rPr lang="en-US" dirty="0"/>
              <a:t>To execute this project, first I created a database named </a:t>
            </a:r>
            <a:r>
              <a:rPr lang="en-US" dirty="0" err="1"/>
              <a:t>ig_clone</a:t>
            </a:r>
            <a:r>
              <a:rPr lang="en-US" dirty="0"/>
              <a:t> using the dataset provided. I used MySQL workbench to run my SQL queries and formed the same on my own according to the questions. Then after, studied the results and found the answers for the same.</a:t>
            </a:r>
          </a:p>
        </p:txBody>
      </p:sp>
    </p:spTree>
    <p:extLst>
      <p:ext uri="{BB962C8B-B14F-4D97-AF65-F5344CB8AC3E}">
        <p14:creationId xmlns:p14="http://schemas.microsoft.com/office/powerpoint/2010/main" val="98182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425" y="476672"/>
            <a:ext cx="7956946" cy="1270248"/>
          </a:xfrm>
        </p:spPr>
        <p:txBody>
          <a:bodyPr/>
          <a:lstStyle/>
          <a:p>
            <a:r>
              <a:rPr lang="en-US" dirty="0"/>
              <a:t>Tech-Stack</a:t>
            </a:r>
          </a:p>
        </p:txBody>
      </p:sp>
      <p:sp>
        <p:nvSpPr>
          <p:cNvPr id="3" name="Text Placeholder 2"/>
          <p:cNvSpPr>
            <a:spLocks noGrp="1"/>
          </p:cNvSpPr>
          <p:nvPr>
            <p:ph type="body" idx="1"/>
          </p:nvPr>
        </p:nvSpPr>
        <p:spPr>
          <a:xfrm>
            <a:off x="606425" y="2420888"/>
            <a:ext cx="10888587" cy="4183360"/>
          </a:xfrm>
        </p:spPr>
        <p:txBody>
          <a:bodyPr>
            <a:normAutofit/>
          </a:bodyPr>
          <a:lstStyle/>
          <a:p>
            <a:pPr>
              <a:lnSpc>
                <a:spcPct val="100000"/>
              </a:lnSpc>
            </a:pPr>
            <a:r>
              <a:rPr lang="en-US" sz="3600" dirty="0"/>
              <a:t>The software used to create the database and perform analysis on the same is –  </a:t>
            </a:r>
            <a:r>
              <a:rPr lang="en-US" sz="3600" dirty="0" err="1"/>
              <a:t>MySql</a:t>
            </a:r>
            <a:r>
              <a:rPr lang="en-US" sz="3600" dirty="0"/>
              <a:t> Workbench  8.</a:t>
            </a:r>
            <a:r>
              <a:rPr lang="en-US" sz="3600" dirty="0">
                <a:latin typeface="Bodoni MT" panose="02070603080606020203" pitchFamily="18" charset="0"/>
                <a:cs typeface="Aharoni" panose="020B0604020202020204" pitchFamily="2" charset="-79"/>
              </a:rPr>
              <a:t>0</a:t>
            </a:r>
            <a:r>
              <a:rPr lang="en-US" sz="3600" dirty="0"/>
              <a:t> C.E.</a:t>
            </a:r>
          </a:p>
        </p:txBody>
      </p:sp>
    </p:spTree>
    <p:extLst>
      <p:ext uri="{BB962C8B-B14F-4D97-AF65-F5344CB8AC3E}">
        <p14:creationId xmlns:p14="http://schemas.microsoft.com/office/powerpoint/2010/main" val="42349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1B228-540E-8344-7212-718A4E63CE5D}"/>
              </a:ext>
            </a:extLst>
          </p:cNvPr>
          <p:cNvSpPr>
            <a:spLocks noGrp="1"/>
          </p:cNvSpPr>
          <p:nvPr>
            <p:ph type="title"/>
          </p:nvPr>
        </p:nvSpPr>
        <p:spPr>
          <a:xfrm>
            <a:off x="632856" y="260648"/>
            <a:ext cx="8229599" cy="792088"/>
          </a:xfrm>
        </p:spPr>
        <p:txBody>
          <a:bodyPr/>
          <a:lstStyle/>
          <a:p>
            <a:r>
              <a:rPr lang="en-IN" dirty="0"/>
              <a:t>Insights</a:t>
            </a:r>
          </a:p>
        </p:txBody>
      </p:sp>
      <p:sp>
        <p:nvSpPr>
          <p:cNvPr id="3" name="Text Placeholder 2">
            <a:extLst>
              <a:ext uri="{FF2B5EF4-FFF2-40B4-BE49-F238E27FC236}">
                <a16:creationId xmlns:a16="http://schemas.microsoft.com/office/drawing/2014/main" id="{CF2BC78E-D555-F108-4335-2941BB8FB735}"/>
              </a:ext>
            </a:extLst>
          </p:cNvPr>
          <p:cNvSpPr>
            <a:spLocks noGrp="1"/>
          </p:cNvSpPr>
          <p:nvPr>
            <p:ph type="body" idx="1"/>
          </p:nvPr>
        </p:nvSpPr>
        <p:spPr>
          <a:xfrm>
            <a:off x="405780" y="908720"/>
            <a:ext cx="11377264" cy="5383589"/>
          </a:xfrm>
        </p:spPr>
        <p:txBody>
          <a:bodyPr>
            <a:noAutofit/>
          </a:bodyPr>
          <a:lstStyle/>
          <a:p>
            <a:pPr marL="216000">
              <a:lnSpc>
                <a:spcPct val="150000"/>
              </a:lnSpc>
            </a:pPr>
            <a:r>
              <a:rPr lang="en-IN" sz="2600" dirty="0">
                <a:solidFill>
                  <a:schemeClr val="accent2"/>
                </a:solidFill>
              </a:rPr>
              <a:t>Marketing :</a:t>
            </a:r>
          </a:p>
          <a:p>
            <a:pPr algn="just">
              <a:lnSpc>
                <a:spcPct val="150000"/>
              </a:lnSpc>
            </a:pPr>
            <a:r>
              <a:rPr lang="en-IN" sz="1600" dirty="0"/>
              <a:t>1. Rewarding most loyal users : </a:t>
            </a:r>
          </a:p>
          <a:p>
            <a:pPr lvl="1" algn="just">
              <a:lnSpc>
                <a:spcPct val="100000"/>
              </a:lnSpc>
            </a:pPr>
            <a:r>
              <a:rPr lang="en-IN" sz="1600" dirty="0">
                <a:solidFill>
                  <a:schemeClr val="tx1"/>
                </a:solidFill>
              </a:rPr>
              <a:t>This is a very good step to make users feel good and increase their involvement. To find out the 5 oldest users from the database we have to use the table “users” and order it according to the dates on which the account was created and limit it to 5. This would give us the names of the 5 oldest users of the app.</a:t>
            </a:r>
          </a:p>
          <a:p>
            <a:pPr marL="396000" algn="just">
              <a:lnSpc>
                <a:spcPct val="100000"/>
              </a:lnSpc>
            </a:pPr>
            <a:r>
              <a:rPr lang="en-IN" sz="1600" dirty="0">
                <a:solidFill>
                  <a:schemeClr val="tx1"/>
                </a:solidFill>
              </a:rPr>
              <a:t>SQL query used for the same can be deducted as ;</a:t>
            </a:r>
          </a:p>
          <a:p>
            <a:pPr marL="396000" algn="just">
              <a:lnSpc>
                <a:spcPct val="100000"/>
              </a:lnSpc>
            </a:pPr>
            <a:r>
              <a:rPr lang="en-US" sz="1600" dirty="0">
                <a:solidFill>
                  <a:schemeClr val="tx1"/>
                </a:solidFill>
              </a:rPr>
              <a:t>SELECT username, </a:t>
            </a:r>
            <a:r>
              <a:rPr lang="en-US" sz="1600" dirty="0" err="1">
                <a:solidFill>
                  <a:schemeClr val="tx1"/>
                </a:solidFill>
              </a:rPr>
              <a:t>created_at</a:t>
            </a:r>
            <a:r>
              <a:rPr lang="en-US" sz="1600" dirty="0">
                <a:solidFill>
                  <a:schemeClr val="tx1"/>
                </a:solidFill>
              </a:rPr>
              <a:t> FROM users ORDER BY </a:t>
            </a:r>
            <a:r>
              <a:rPr lang="en-US" sz="1600" dirty="0" err="1">
                <a:solidFill>
                  <a:schemeClr val="tx1"/>
                </a:solidFill>
              </a:rPr>
              <a:t>created_at</a:t>
            </a:r>
            <a:r>
              <a:rPr lang="en-US" sz="1600" dirty="0">
                <a:solidFill>
                  <a:schemeClr val="tx1"/>
                </a:solidFill>
              </a:rPr>
              <a:t> ASC LIMIT 5;</a:t>
            </a:r>
          </a:p>
          <a:p>
            <a:pPr marL="396000" algn="just">
              <a:lnSpc>
                <a:spcPct val="100000"/>
              </a:lnSpc>
            </a:pPr>
            <a:r>
              <a:rPr lang="en-US" sz="1600" dirty="0"/>
              <a:t>The above query gives a list consisting of the names of 5 users who are the oldest users of the platform.</a:t>
            </a:r>
            <a:endParaRPr lang="en-IN" sz="1600" dirty="0"/>
          </a:p>
          <a:p>
            <a:pPr algn="just">
              <a:lnSpc>
                <a:spcPct val="150000"/>
              </a:lnSpc>
            </a:pPr>
            <a:r>
              <a:rPr lang="en-IN" sz="1800" dirty="0"/>
              <a:t>2. Remind inactive users to start posting:</a:t>
            </a:r>
          </a:p>
          <a:p>
            <a:pPr lvl="1" algn="just">
              <a:lnSpc>
                <a:spcPct val="100000"/>
              </a:lnSpc>
            </a:pPr>
            <a:r>
              <a:rPr lang="en-IN" sz="1600" dirty="0">
                <a:solidFill>
                  <a:schemeClr val="tx1"/>
                </a:solidFill>
              </a:rPr>
              <a:t> This is a most important precautionary step to increase the involvement of the user. To find out which users haven’t posted a single photo we need to use two tables “users” and “photos”. We are just going to see if there is any id that is present in the user’s table but not in the photos.</a:t>
            </a:r>
          </a:p>
          <a:p>
            <a:pPr lvl="1" algn="just">
              <a:lnSpc>
                <a:spcPct val="100000"/>
              </a:lnSpc>
            </a:pPr>
            <a:r>
              <a:rPr lang="en-IN" sz="1600" dirty="0">
                <a:solidFill>
                  <a:schemeClr val="tx1"/>
                </a:solidFill>
              </a:rPr>
              <a:t>SQL query for the same can be formed as ;</a:t>
            </a:r>
          </a:p>
          <a:p>
            <a:pPr lvl="1" algn="just">
              <a:lnSpc>
                <a:spcPct val="100000"/>
              </a:lnSpc>
            </a:pPr>
            <a:r>
              <a:rPr lang="en-US" sz="1600" dirty="0">
                <a:solidFill>
                  <a:schemeClr val="tx1"/>
                </a:solidFill>
              </a:rPr>
              <a:t>SELECT username FROM users WHERE id NOT IN (SELECT </a:t>
            </a:r>
            <a:r>
              <a:rPr lang="en-US" sz="1600" dirty="0" err="1">
                <a:solidFill>
                  <a:schemeClr val="tx1"/>
                </a:solidFill>
              </a:rPr>
              <a:t>user_id</a:t>
            </a:r>
            <a:r>
              <a:rPr lang="en-US" sz="1600" dirty="0">
                <a:solidFill>
                  <a:schemeClr val="tx1"/>
                </a:solidFill>
              </a:rPr>
              <a:t> FROM photos)</a:t>
            </a:r>
            <a:r>
              <a:rPr lang="en-IN" sz="1600" dirty="0">
                <a:solidFill>
                  <a:schemeClr val="tx1"/>
                </a:solidFill>
              </a:rPr>
              <a:t>; </a:t>
            </a:r>
          </a:p>
          <a:p>
            <a:pPr lvl="1" algn="just">
              <a:lnSpc>
                <a:spcPct val="100000"/>
              </a:lnSpc>
            </a:pPr>
            <a:r>
              <a:rPr lang="en-IN" sz="1600" dirty="0">
                <a:solidFill>
                  <a:schemeClr val="tx1"/>
                </a:solidFill>
              </a:rPr>
              <a:t>The above query gives us the list of the users who haven’t posted any photos on the platform. An email will be sent concerning the same topic.</a:t>
            </a:r>
          </a:p>
          <a:p>
            <a:endParaRPr lang="en-IN" sz="1800" dirty="0"/>
          </a:p>
          <a:p>
            <a:r>
              <a:rPr lang="en-IN" sz="1800" dirty="0"/>
              <a:t>        </a:t>
            </a:r>
          </a:p>
        </p:txBody>
      </p:sp>
    </p:spTree>
    <p:extLst>
      <p:ext uri="{BB962C8B-B14F-4D97-AF65-F5344CB8AC3E}">
        <p14:creationId xmlns:p14="http://schemas.microsoft.com/office/powerpoint/2010/main" val="4124279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B4A9F7-128A-97DA-748D-7513500BF26B}"/>
              </a:ext>
            </a:extLst>
          </p:cNvPr>
          <p:cNvSpPr txBox="1"/>
          <p:nvPr/>
        </p:nvSpPr>
        <p:spPr>
          <a:xfrm>
            <a:off x="477788" y="620688"/>
            <a:ext cx="10990935" cy="4955203"/>
          </a:xfrm>
          <a:prstGeom prst="rect">
            <a:avLst/>
          </a:prstGeom>
          <a:noFill/>
        </p:spPr>
        <p:txBody>
          <a:bodyPr wrap="square" rtlCol="0">
            <a:spAutoFit/>
          </a:bodyPr>
          <a:lstStyle/>
          <a:p>
            <a:r>
              <a:rPr lang="en-IN" sz="2400" dirty="0"/>
              <a:t>3. Declaring contest winner : </a:t>
            </a:r>
          </a:p>
          <a:p>
            <a:endParaRPr lang="en-IN" dirty="0"/>
          </a:p>
          <a:p>
            <a:pPr lvl="1"/>
            <a:r>
              <a:rPr lang="en-IN" sz="1600" dirty="0"/>
              <a:t>This is a great way to involve users in expanding their network on the app. To find the winner we have to join two tables “photos” and “likes”. Here we see which user got the maximum likes on the photos posted on Instagram.</a:t>
            </a:r>
          </a:p>
          <a:p>
            <a:pPr lvl="1"/>
            <a:r>
              <a:rPr lang="en-IN" sz="1600" dirty="0"/>
              <a:t>SQL query for the same can be given as ;</a:t>
            </a:r>
          </a:p>
          <a:p>
            <a:pPr lvl="1"/>
            <a:r>
              <a:rPr lang="en-IN" sz="1600" dirty="0"/>
              <a:t>SELECT </a:t>
            </a:r>
            <a:r>
              <a:rPr lang="en-IN" sz="1600" dirty="0" err="1"/>
              <a:t>photos.user_id</a:t>
            </a:r>
            <a:r>
              <a:rPr lang="en-IN" sz="1600" dirty="0"/>
              <a:t>, </a:t>
            </a:r>
            <a:r>
              <a:rPr lang="en-IN" sz="1600" dirty="0" err="1"/>
              <a:t>users.username</a:t>
            </a:r>
            <a:r>
              <a:rPr lang="en-IN" sz="1600" dirty="0"/>
              <a:t>, MAX(</a:t>
            </a:r>
            <a:r>
              <a:rPr lang="en-IN" sz="1600" dirty="0" err="1"/>
              <a:t>likes_count</a:t>
            </a:r>
            <a:r>
              <a:rPr lang="en-IN" sz="1600" dirty="0"/>
              <a:t>) AS </a:t>
            </a:r>
            <a:r>
              <a:rPr lang="en-IN" sz="1600" dirty="0" err="1"/>
              <a:t>max_likes_count</a:t>
            </a:r>
            <a:endParaRPr lang="en-IN" sz="1600" dirty="0"/>
          </a:p>
          <a:p>
            <a:pPr lvl="1"/>
            <a:r>
              <a:rPr lang="en-IN" sz="1600" dirty="0"/>
              <a:t>FROM (</a:t>
            </a:r>
          </a:p>
          <a:p>
            <a:pPr lvl="1"/>
            <a:r>
              <a:rPr lang="en-IN" sz="1600" dirty="0"/>
              <a:t>    SELECT </a:t>
            </a:r>
            <a:r>
              <a:rPr lang="en-IN" sz="1600" dirty="0" err="1"/>
              <a:t>user_id</a:t>
            </a:r>
            <a:r>
              <a:rPr lang="en-IN" sz="1600" dirty="0"/>
              <a:t>, id, COUNT(*) AS </a:t>
            </a:r>
            <a:r>
              <a:rPr lang="en-IN" sz="1600" dirty="0" err="1"/>
              <a:t>likes_count</a:t>
            </a:r>
            <a:endParaRPr lang="en-IN" sz="1600" dirty="0"/>
          </a:p>
          <a:p>
            <a:pPr lvl="1"/>
            <a:r>
              <a:rPr lang="en-IN" sz="1600" dirty="0"/>
              <a:t>    FROM photos</a:t>
            </a:r>
          </a:p>
          <a:p>
            <a:pPr lvl="1"/>
            <a:r>
              <a:rPr lang="en-IN" sz="1600" dirty="0"/>
              <a:t>    INNER JOIN likes ON photos. id = </a:t>
            </a:r>
            <a:r>
              <a:rPr lang="en-IN" sz="1600" dirty="0" err="1"/>
              <a:t>likes.photo_id</a:t>
            </a:r>
            <a:endParaRPr lang="en-IN" sz="1600" dirty="0"/>
          </a:p>
          <a:p>
            <a:pPr lvl="1"/>
            <a:r>
              <a:rPr lang="en-IN" sz="1600" dirty="0"/>
              <a:t>    GROUP BY </a:t>
            </a:r>
            <a:r>
              <a:rPr lang="en-IN" sz="1600" dirty="0" err="1"/>
              <a:t>photos.user_id</a:t>
            </a:r>
            <a:r>
              <a:rPr lang="en-IN" sz="1600" dirty="0"/>
              <a:t>, photos.id</a:t>
            </a:r>
          </a:p>
          <a:p>
            <a:pPr lvl="1"/>
            <a:r>
              <a:rPr lang="en-IN" sz="1600" dirty="0"/>
              <a:t>) AS </a:t>
            </a:r>
            <a:r>
              <a:rPr lang="en-IN" sz="1600" dirty="0" err="1"/>
              <a:t>photo_likes</a:t>
            </a:r>
            <a:endParaRPr lang="en-IN" sz="1600" dirty="0"/>
          </a:p>
          <a:p>
            <a:pPr lvl="1"/>
            <a:r>
              <a:rPr lang="en-IN" sz="1600" dirty="0"/>
              <a:t>INNER JOIN photos ON photo_likes.id = photos.id</a:t>
            </a:r>
          </a:p>
          <a:p>
            <a:pPr lvl="1"/>
            <a:r>
              <a:rPr lang="en-IN" sz="1600" dirty="0"/>
              <a:t>INNER JOIN users ON </a:t>
            </a:r>
            <a:r>
              <a:rPr lang="en-IN" sz="1600" dirty="0" err="1"/>
              <a:t>photos.user_id</a:t>
            </a:r>
            <a:r>
              <a:rPr lang="en-IN" sz="1600" dirty="0"/>
              <a:t> = users.id</a:t>
            </a:r>
          </a:p>
          <a:p>
            <a:pPr lvl="1"/>
            <a:r>
              <a:rPr lang="en-IN" sz="1600" dirty="0"/>
              <a:t>GROUP BY </a:t>
            </a:r>
            <a:r>
              <a:rPr lang="en-IN" sz="1600" dirty="0" err="1"/>
              <a:t>photos.user_id</a:t>
            </a:r>
            <a:r>
              <a:rPr lang="en-IN" sz="1600" dirty="0"/>
              <a:t>, </a:t>
            </a:r>
            <a:r>
              <a:rPr lang="en-IN" sz="1600" dirty="0" err="1"/>
              <a:t>users.username</a:t>
            </a:r>
            <a:endParaRPr lang="en-IN" sz="1600" dirty="0"/>
          </a:p>
          <a:p>
            <a:pPr lvl="1"/>
            <a:r>
              <a:rPr lang="en-IN" sz="1600" dirty="0"/>
              <a:t>ORDER BY </a:t>
            </a:r>
            <a:r>
              <a:rPr lang="en-IN" sz="1600" dirty="0" err="1"/>
              <a:t>max_likes_count</a:t>
            </a:r>
            <a:r>
              <a:rPr lang="en-IN" sz="1600" dirty="0"/>
              <a:t> DESC</a:t>
            </a:r>
          </a:p>
          <a:p>
            <a:pPr lvl="1"/>
            <a:r>
              <a:rPr lang="en-IN" sz="1600" dirty="0"/>
              <a:t>LIMIT 1;</a:t>
            </a:r>
          </a:p>
          <a:p>
            <a:pPr lvl="1"/>
            <a:r>
              <a:rPr lang="en-IN" sz="1600" dirty="0"/>
              <a:t>The above query will give us the name of the winner, in this case which is “Eveline95 “.</a:t>
            </a:r>
          </a:p>
          <a:p>
            <a:endParaRPr lang="en-IN" dirty="0"/>
          </a:p>
        </p:txBody>
      </p:sp>
    </p:spTree>
    <p:extLst>
      <p:ext uri="{BB962C8B-B14F-4D97-AF65-F5344CB8AC3E}">
        <p14:creationId xmlns:p14="http://schemas.microsoft.com/office/powerpoint/2010/main" val="284099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6494B3-9ED8-8E0E-DAA5-0D959D5AC589}"/>
              </a:ext>
            </a:extLst>
          </p:cNvPr>
          <p:cNvSpPr>
            <a:spLocks noGrp="1"/>
          </p:cNvSpPr>
          <p:nvPr>
            <p:ph type="body" idx="1"/>
          </p:nvPr>
        </p:nvSpPr>
        <p:spPr>
          <a:xfrm>
            <a:off x="621805" y="764704"/>
            <a:ext cx="10873208" cy="5407496"/>
          </a:xfrm>
        </p:spPr>
        <p:txBody>
          <a:bodyPr/>
          <a:lstStyle/>
          <a:p>
            <a:r>
              <a:rPr lang="en-IN" dirty="0"/>
              <a:t>4. Hashtag Researching :</a:t>
            </a:r>
          </a:p>
          <a:p>
            <a:endParaRPr lang="en-IN" dirty="0"/>
          </a:p>
          <a:p>
            <a:pPr lvl="1">
              <a:lnSpc>
                <a:spcPct val="100000"/>
              </a:lnSpc>
            </a:pPr>
            <a:r>
              <a:rPr lang="en-IN" dirty="0">
                <a:solidFill>
                  <a:schemeClr val="tx1"/>
                </a:solidFill>
              </a:rPr>
              <a:t>Hashtags are used while posting photos which makes it much easier to be visible in searches. To find which hashtags are most used in the photos we need to join two tables namely “tags” and “</a:t>
            </a:r>
            <a:r>
              <a:rPr lang="en-IN" dirty="0" err="1">
                <a:solidFill>
                  <a:schemeClr val="tx1"/>
                </a:solidFill>
              </a:rPr>
              <a:t>photo_tags</a:t>
            </a:r>
            <a:r>
              <a:rPr lang="en-IN" dirty="0">
                <a:solidFill>
                  <a:schemeClr val="tx1"/>
                </a:solidFill>
              </a:rPr>
              <a:t>”. Here we have to just see which tag is included in most of the photos posted on Instagram. </a:t>
            </a:r>
          </a:p>
          <a:p>
            <a:pPr lvl="1">
              <a:lnSpc>
                <a:spcPct val="100000"/>
              </a:lnSpc>
            </a:pPr>
            <a:r>
              <a:rPr lang="en-IN" dirty="0">
                <a:solidFill>
                  <a:schemeClr val="tx1"/>
                </a:solidFill>
              </a:rPr>
              <a:t>SQL query for the same can be given as ;</a:t>
            </a:r>
          </a:p>
          <a:p>
            <a:pPr lvl="1">
              <a:lnSpc>
                <a:spcPct val="100000"/>
              </a:lnSpc>
            </a:pPr>
            <a:r>
              <a:rPr lang="en-IN" dirty="0">
                <a:solidFill>
                  <a:schemeClr val="tx1"/>
                </a:solidFill>
              </a:rPr>
              <a:t>SELECT </a:t>
            </a:r>
            <a:r>
              <a:rPr lang="en-IN" dirty="0" err="1">
                <a:solidFill>
                  <a:schemeClr val="tx1"/>
                </a:solidFill>
              </a:rPr>
              <a:t>tags.tag_name</a:t>
            </a:r>
            <a:r>
              <a:rPr lang="en-IN" dirty="0">
                <a:solidFill>
                  <a:schemeClr val="tx1"/>
                </a:solidFill>
              </a:rPr>
              <a:t>, COUNT(*) AS </a:t>
            </a:r>
            <a:r>
              <a:rPr lang="en-IN" dirty="0" err="1">
                <a:solidFill>
                  <a:schemeClr val="tx1"/>
                </a:solidFill>
              </a:rPr>
              <a:t>tag_count</a:t>
            </a:r>
            <a:endParaRPr lang="en-IN" dirty="0">
              <a:solidFill>
                <a:schemeClr val="tx1"/>
              </a:solidFill>
            </a:endParaRPr>
          </a:p>
          <a:p>
            <a:pPr lvl="1">
              <a:lnSpc>
                <a:spcPct val="100000"/>
              </a:lnSpc>
            </a:pPr>
            <a:r>
              <a:rPr lang="en-IN" dirty="0">
                <a:solidFill>
                  <a:schemeClr val="tx1"/>
                </a:solidFill>
              </a:rPr>
              <a:t>FROM tags</a:t>
            </a:r>
          </a:p>
          <a:p>
            <a:pPr lvl="1">
              <a:lnSpc>
                <a:spcPct val="100000"/>
              </a:lnSpc>
            </a:pPr>
            <a:r>
              <a:rPr lang="en-IN" dirty="0">
                <a:solidFill>
                  <a:schemeClr val="tx1"/>
                </a:solidFill>
              </a:rPr>
              <a:t>INNER JOIN </a:t>
            </a:r>
            <a:r>
              <a:rPr lang="en-IN" dirty="0" err="1">
                <a:solidFill>
                  <a:schemeClr val="tx1"/>
                </a:solidFill>
              </a:rPr>
              <a:t>photo_tags</a:t>
            </a:r>
            <a:r>
              <a:rPr lang="en-IN" dirty="0">
                <a:solidFill>
                  <a:schemeClr val="tx1"/>
                </a:solidFill>
              </a:rPr>
              <a:t> ON tags.id = </a:t>
            </a:r>
            <a:r>
              <a:rPr lang="en-IN" dirty="0" err="1">
                <a:solidFill>
                  <a:schemeClr val="tx1"/>
                </a:solidFill>
              </a:rPr>
              <a:t>photo_tags.tag_id</a:t>
            </a:r>
            <a:endParaRPr lang="en-IN" dirty="0">
              <a:solidFill>
                <a:schemeClr val="tx1"/>
              </a:solidFill>
            </a:endParaRPr>
          </a:p>
          <a:p>
            <a:pPr lvl="1">
              <a:lnSpc>
                <a:spcPct val="100000"/>
              </a:lnSpc>
            </a:pPr>
            <a:r>
              <a:rPr lang="en-IN" dirty="0">
                <a:solidFill>
                  <a:schemeClr val="tx1"/>
                </a:solidFill>
              </a:rPr>
              <a:t>GROUP BY </a:t>
            </a:r>
            <a:r>
              <a:rPr lang="en-IN" dirty="0" err="1">
                <a:solidFill>
                  <a:schemeClr val="tx1"/>
                </a:solidFill>
              </a:rPr>
              <a:t>tags.tag_name</a:t>
            </a:r>
            <a:endParaRPr lang="en-IN" dirty="0">
              <a:solidFill>
                <a:schemeClr val="tx1"/>
              </a:solidFill>
            </a:endParaRPr>
          </a:p>
          <a:p>
            <a:pPr lvl="1">
              <a:lnSpc>
                <a:spcPct val="100000"/>
              </a:lnSpc>
            </a:pPr>
            <a:r>
              <a:rPr lang="en-IN" dirty="0">
                <a:solidFill>
                  <a:schemeClr val="tx1"/>
                </a:solidFill>
              </a:rPr>
              <a:t>ORDER BY </a:t>
            </a:r>
            <a:r>
              <a:rPr lang="en-IN" dirty="0" err="1">
                <a:solidFill>
                  <a:schemeClr val="tx1"/>
                </a:solidFill>
              </a:rPr>
              <a:t>tag_count</a:t>
            </a:r>
            <a:r>
              <a:rPr lang="en-IN" dirty="0">
                <a:solidFill>
                  <a:schemeClr val="tx1"/>
                </a:solidFill>
              </a:rPr>
              <a:t> DESC</a:t>
            </a:r>
          </a:p>
          <a:p>
            <a:pPr lvl="1">
              <a:lnSpc>
                <a:spcPct val="100000"/>
              </a:lnSpc>
            </a:pPr>
            <a:r>
              <a:rPr lang="en-IN" dirty="0">
                <a:solidFill>
                  <a:schemeClr val="tx1"/>
                </a:solidFill>
              </a:rPr>
              <a:t>LIMIT 5;</a:t>
            </a:r>
          </a:p>
          <a:p>
            <a:pPr lvl="1">
              <a:lnSpc>
                <a:spcPct val="100000"/>
              </a:lnSpc>
            </a:pPr>
            <a:r>
              <a:rPr lang="en-IN" dirty="0">
                <a:solidFill>
                  <a:schemeClr val="tx1"/>
                </a:solidFill>
              </a:rPr>
              <a:t>The above query will list down the most used tags in the photos. Which will make it easier for a brand to reach out maximum users by using the tags.</a:t>
            </a:r>
          </a:p>
          <a:p>
            <a:endParaRPr lang="en-IN" dirty="0"/>
          </a:p>
          <a:p>
            <a:endParaRPr lang="en-IN" dirty="0"/>
          </a:p>
        </p:txBody>
      </p:sp>
    </p:spTree>
    <p:extLst>
      <p:ext uri="{BB962C8B-B14F-4D97-AF65-F5344CB8AC3E}">
        <p14:creationId xmlns:p14="http://schemas.microsoft.com/office/powerpoint/2010/main" val="8954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9FAF7C-0D24-BD94-31CA-14AB890587E4}"/>
              </a:ext>
            </a:extLst>
          </p:cNvPr>
          <p:cNvSpPr txBox="1"/>
          <p:nvPr/>
        </p:nvSpPr>
        <p:spPr>
          <a:xfrm>
            <a:off x="549796" y="764704"/>
            <a:ext cx="11233248" cy="4093428"/>
          </a:xfrm>
          <a:prstGeom prst="rect">
            <a:avLst/>
          </a:prstGeom>
          <a:noFill/>
        </p:spPr>
        <p:txBody>
          <a:bodyPr wrap="square" rtlCol="0">
            <a:spAutoFit/>
          </a:bodyPr>
          <a:lstStyle/>
          <a:p>
            <a:r>
              <a:rPr lang="en-IN" sz="2400" dirty="0"/>
              <a:t>5. Launch AD campaign:</a:t>
            </a:r>
          </a:p>
          <a:p>
            <a:endParaRPr lang="en-IN" sz="2000" dirty="0"/>
          </a:p>
          <a:p>
            <a:pPr lvl="1"/>
            <a:r>
              <a:rPr lang="en-IN" dirty="0"/>
              <a:t>A platform gets most of its income from marketing partners. So, it’s an important task to make the ads of the partners seen by most of the users and get much more involvement. To do so, we should know on which day most of the users are active on the platform. For this task, we can see on which day most of the users register on the platform and launch the campaign on the same day.</a:t>
            </a:r>
          </a:p>
          <a:p>
            <a:pPr lvl="1"/>
            <a:r>
              <a:rPr lang="en-IN" dirty="0"/>
              <a:t>SQL query for finding out the day can be given as;</a:t>
            </a:r>
          </a:p>
          <a:p>
            <a:pPr lvl="1"/>
            <a:r>
              <a:rPr lang="en-US" dirty="0"/>
              <a:t>SELECT DAYNAME(</a:t>
            </a:r>
            <a:r>
              <a:rPr lang="en-US" dirty="0" err="1"/>
              <a:t>created_at</a:t>
            </a:r>
            <a:r>
              <a:rPr lang="en-US" dirty="0"/>
              <a:t>) AS </a:t>
            </a:r>
            <a:r>
              <a:rPr lang="en-US" dirty="0" err="1"/>
              <a:t>day_of_week</a:t>
            </a:r>
            <a:r>
              <a:rPr lang="en-US" dirty="0"/>
              <a:t>, COUNT(*) AS </a:t>
            </a:r>
            <a:r>
              <a:rPr lang="en-US" dirty="0" err="1"/>
              <a:t>user_count</a:t>
            </a:r>
            <a:endParaRPr lang="en-US" dirty="0"/>
          </a:p>
          <a:p>
            <a:pPr lvl="1"/>
            <a:r>
              <a:rPr lang="en-US" dirty="0"/>
              <a:t>FROM users</a:t>
            </a:r>
          </a:p>
          <a:p>
            <a:pPr lvl="1"/>
            <a:r>
              <a:rPr lang="en-US" dirty="0"/>
              <a:t>GROUP BY DAYNAME(</a:t>
            </a:r>
            <a:r>
              <a:rPr lang="en-US" dirty="0" err="1"/>
              <a:t>created_at</a:t>
            </a:r>
            <a:r>
              <a:rPr lang="en-US" dirty="0"/>
              <a:t>)</a:t>
            </a:r>
          </a:p>
          <a:p>
            <a:pPr lvl="1"/>
            <a:r>
              <a:rPr lang="en-US" dirty="0"/>
              <a:t>ORDER BY </a:t>
            </a:r>
            <a:r>
              <a:rPr lang="en-US" dirty="0" err="1"/>
              <a:t>user_count</a:t>
            </a:r>
            <a:r>
              <a:rPr lang="en-US" dirty="0"/>
              <a:t> DESC</a:t>
            </a:r>
          </a:p>
          <a:p>
            <a:pPr lvl="1"/>
            <a:r>
              <a:rPr lang="en-US" dirty="0"/>
              <a:t>LIMIT 1;</a:t>
            </a:r>
          </a:p>
          <a:p>
            <a:pPr lvl="1"/>
            <a:r>
              <a:rPr lang="en-IN" dirty="0"/>
              <a:t>The above query will give a day on which most of the users registered on. In this case which is “Thursday”, so if an AD campaign is to launch by an organization it would be fruitful to launch it on Thursday.</a:t>
            </a:r>
          </a:p>
        </p:txBody>
      </p:sp>
    </p:spTree>
    <p:extLst>
      <p:ext uri="{BB962C8B-B14F-4D97-AF65-F5344CB8AC3E}">
        <p14:creationId xmlns:p14="http://schemas.microsoft.com/office/powerpoint/2010/main" val="298015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C624-06B2-A3BA-D28E-E05F8EABE386}"/>
              </a:ext>
            </a:extLst>
          </p:cNvPr>
          <p:cNvSpPr>
            <a:spLocks noGrp="1"/>
          </p:cNvSpPr>
          <p:nvPr>
            <p:ph type="title"/>
          </p:nvPr>
        </p:nvSpPr>
        <p:spPr>
          <a:xfrm>
            <a:off x="477788" y="188640"/>
            <a:ext cx="8229599" cy="936104"/>
          </a:xfrm>
        </p:spPr>
        <p:txBody>
          <a:bodyPr/>
          <a:lstStyle/>
          <a:p>
            <a:r>
              <a:rPr lang="en-IN" dirty="0">
                <a:solidFill>
                  <a:schemeClr val="accent2"/>
                </a:solidFill>
              </a:rPr>
              <a:t>Investor Metrics</a:t>
            </a:r>
          </a:p>
        </p:txBody>
      </p:sp>
      <p:sp>
        <p:nvSpPr>
          <p:cNvPr id="3" name="Text Placeholder 2">
            <a:extLst>
              <a:ext uri="{FF2B5EF4-FFF2-40B4-BE49-F238E27FC236}">
                <a16:creationId xmlns:a16="http://schemas.microsoft.com/office/drawing/2014/main" id="{EA85105C-8E9A-95E4-4494-2E1EC727B015}"/>
              </a:ext>
            </a:extLst>
          </p:cNvPr>
          <p:cNvSpPr>
            <a:spLocks noGrp="1"/>
          </p:cNvSpPr>
          <p:nvPr>
            <p:ph type="body" idx="1"/>
          </p:nvPr>
        </p:nvSpPr>
        <p:spPr>
          <a:xfrm>
            <a:off x="578110" y="1124744"/>
            <a:ext cx="11032603" cy="5400600"/>
          </a:xfrm>
        </p:spPr>
        <p:txBody>
          <a:bodyPr>
            <a:normAutofit lnSpcReduction="10000"/>
          </a:bodyPr>
          <a:lstStyle/>
          <a:p>
            <a:pPr>
              <a:lnSpc>
                <a:spcPct val="100000"/>
              </a:lnSpc>
            </a:pPr>
            <a:r>
              <a:rPr lang="en-IN" dirty="0"/>
              <a:t>1. User Engagement:</a:t>
            </a:r>
          </a:p>
          <a:p>
            <a:pPr lvl="1">
              <a:lnSpc>
                <a:spcPct val="100000"/>
              </a:lnSpc>
            </a:pPr>
            <a:r>
              <a:rPr lang="en-IN" sz="1600" dirty="0">
                <a:solidFill>
                  <a:schemeClr val="tx1"/>
                </a:solidFill>
              </a:rPr>
              <a:t>To see whether the users are active on the platform there can be many metrics. Here we are going to see how many times an average user posts on Instagram. More the number of posts more the user is on the platform.</a:t>
            </a:r>
          </a:p>
          <a:p>
            <a:pPr lvl="1">
              <a:lnSpc>
                <a:spcPct val="100000"/>
              </a:lnSpc>
            </a:pPr>
            <a:r>
              <a:rPr lang="en-IN" sz="1600" dirty="0">
                <a:solidFill>
                  <a:schemeClr val="tx1"/>
                </a:solidFill>
              </a:rPr>
              <a:t>To find what is the average number of posts done by a user we need to use the table “photos”.</a:t>
            </a:r>
          </a:p>
          <a:p>
            <a:pPr lvl="1">
              <a:lnSpc>
                <a:spcPct val="100000"/>
              </a:lnSpc>
            </a:pPr>
            <a:r>
              <a:rPr lang="en-IN" sz="1600" dirty="0">
                <a:solidFill>
                  <a:schemeClr val="tx1"/>
                </a:solidFill>
              </a:rPr>
              <a:t>SQL query for the same can be given as ;</a:t>
            </a:r>
          </a:p>
          <a:p>
            <a:pPr lvl="1">
              <a:lnSpc>
                <a:spcPct val="100000"/>
              </a:lnSpc>
            </a:pPr>
            <a:r>
              <a:rPr lang="en-US" sz="1600" dirty="0">
                <a:solidFill>
                  <a:schemeClr val="tx1"/>
                </a:solidFill>
              </a:rPr>
              <a:t>SELECT COUNT(*) / COUNT(DISTINCT </a:t>
            </a:r>
            <a:r>
              <a:rPr lang="en-US" sz="1600" dirty="0" err="1">
                <a:solidFill>
                  <a:schemeClr val="tx1"/>
                </a:solidFill>
              </a:rPr>
              <a:t>user_id</a:t>
            </a:r>
            <a:r>
              <a:rPr lang="en-US" sz="1600" dirty="0">
                <a:solidFill>
                  <a:schemeClr val="tx1"/>
                </a:solidFill>
              </a:rPr>
              <a:t>) AS </a:t>
            </a:r>
            <a:r>
              <a:rPr lang="en-US" sz="1600" dirty="0" err="1">
                <a:solidFill>
                  <a:schemeClr val="tx1"/>
                </a:solidFill>
              </a:rPr>
              <a:t>avg_posts_per_user</a:t>
            </a:r>
            <a:endParaRPr lang="en-US" sz="1600" dirty="0">
              <a:solidFill>
                <a:schemeClr val="tx1"/>
              </a:solidFill>
            </a:endParaRPr>
          </a:p>
          <a:p>
            <a:pPr lvl="1">
              <a:lnSpc>
                <a:spcPct val="100000"/>
              </a:lnSpc>
            </a:pPr>
            <a:r>
              <a:rPr lang="en-US" sz="1600" dirty="0">
                <a:solidFill>
                  <a:schemeClr val="tx1"/>
                </a:solidFill>
              </a:rPr>
              <a:t>FROM photos;</a:t>
            </a:r>
          </a:p>
          <a:p>
            <a:pPr lvl="1">
              <a:lnSpc>
                <a:spcPct val="110000"/>
              </a:lnSpc>
            </a:pPr>
            <a:r>
              <a:rPr lang="en-US" sz="1600" dirty="0">
                <a:solidFill>
                  <a:schemeClr val="tx1"/>
                </a:solidFill>
              </a:rPr>
              <a:t>The output got from the above statement is 3.4730.  Which means about 3 to 4 posts are done by an average user. </a:t>
            </a:r>
          </a:p>
          <a:p>
            <a:pPr>
              <a:lnSpc>
                <a:spcPct val="110000"/>
              </a:lnSpc>
            </a:pPr>
            <a:r>
              <a:rPr lang="en-IN" dirty="0"/>
              <a:t>2. Bots and Fake Accounts:</a:t>
            </a:r>
          </a:p>
          <a:p>
            <a:pPr lvl="1">
              <a:lnSpc>
                <a:spcPct val="100000"/>
              </a:lnSpc>
            </a:pPr>
            <a:r>
              <a:rPr lang="en-IN" sz="1600" dirty="0">
                <a:solidFill>
                  <a:schemeClr val="tx1"/>
                </a:solidFill>
              </a:rPr>
              <a:t>Bots or fake accounts are nuisances on any platform. User prefers a true and carefree environment which can be achieved by validating the accounts. To find which account is a fake one we are going to see which account has liked every post on Instagram. For doing so we have to use two tables “users” and “photos”. </a:t>
            </a:r>
          </a:p>
          <a:p>
            <a:pPr lvl="1">
              <a:lnSpc>
                <a:spcPct val="100000"/>
              </a:lnSpc>
            </a:pPr>
            <a:r>
              <a:rPr lang="en-IN" sz="1600" dirty="0">
                <a:solidFill>
                  <a:schemeClr val="tx1"/>
                </a:solidFill>
              </a:rPr>
              <a:t>SQL query for the same can be given as ;</a:t>
            </a:r>
          </a:p>
          <a:p>
            <a:pPr lvl="1">
              <a:lnSpc>
                <a:spcPct val="100000"/>
              </a:lnSpc>
            </a:pPr>
            <a:r>
              <a:rPr lang="en-US" sz="1600" dirty="0">
                <a:solidFill>
                  <a:schemeClr val="tx1"/>
                </a:solidFill>
              </a:rPr>
              <a:t>SELECT </a:t>
            </a:r>
            <a:r>
              <a:rPr lang="en-US" sz="1600" dirty="0" err="1">
                <a:solidFill>
                  <a:schemeClr val="tx1"/>
                </a:solidFill>
              </a:rPr>
              <a:t>user_id</a:t>
            </a:r>
            <a:endParaRPr lang="en-US" sz="1600" dirty="0">
              <a:solidFill>
                <a:schemeClr val="tx1"/>
              </a:solidFill>
            </a:endParaRPr>
          </a:p>
          <a:p>
            <a:pPr lvl="1">
              <a:lnSpc>
                <a:spcPct val="100000"/>
              </a:lnSpc>
            </a:pPr>
            <a:r>
              <a:rPr lang="en-US" sz="1600" dirty="0">
                <a:solidFill>
                  <a:schemeClr val="tx1"/>
                </a:solidFill>
              </a:rPr>
              <a:t>FROM likes</a:t>
            </a:r>
          </a:p>
          <a:p>
            <a:pPr lvl="1">
              <a:lnSpc>
                <a:spcPct val="100000"/>
              </a:lnSpc>
            </a:pPr>
            <a:r>
              <a:rPr lang="en-US" sz="1600" dirty="0">
                <a:solidFill>
                  <a:schemeClr val="tx1"/>
                </a:solidFill>
              </a:rPr>
              <a:t>GROUP BY </a:t>
            </a:r>
            <a:r>
              <a:rPr lang="en-US" sz="1600" dirty="0" err="1">
                <a:solidFill>
                  <a:schemeClr val="tx1"/>
                </a:solidFill>
              </a:rPr>
              <a:t>user_id</a:t>
            </a:r>
            <a:endParaRPr lang="en-US" sz="1600" dirty="0">
              <a:solidFill>
                <a:schemeClr val="tx1"/>
              </a:solidFill>
            </a:endParaRPr>
          </a:p>
          <a:p>
            <a:pPr lvl="1">
              <a:lnSpc>
                <a:spcPct val="100000"/>
              </a:lnSpc>
            </a:pPr>
            <a:r>
              <a:rPr lang="en-US" sz="1600" dirty="0">
                <a:solidFill>
                  <a:schemeClr val="tx1"/>
                </a:solidFill>
              </a:rPr>
              <a:t>HAVING COUNT(*) = (SELECT COUNT(*) FROM photos);</a:t>
            </a:r>
          </a:p>
          <a:p>
            <a:pPr lvl="1">
              <a:lnSpc>
                <a:spcPct val="100000"/>
              </a:lnSpc>
            </a:pPr>
            <a:r>
              <a:rPr lang="en-US" sz="1600" dirty="0">
                <a:solidFill>
                  <a:schemeClr val="tx1"/>
                </a:solidFill>
              </a:rPr>
              <a:t>The above query lists the accounts which have liked every photo posted on Instagram.</a:t>
            </a:r>
          </a:p>
          <a:p>
            <a:endParaRPr lang="en-IN" sz="1800" dirty="0"/>
          </a:p>
        </p:txBody>
      </p:sp>
    </p:spTree>
    <p:extLst>
      <p:ext uri="{BB962C8B-B14F-4D97-AF65-F5344CB8AC3E}">
        <p14:creationId xmlns:p14="http://schemas.microsoft.com/office/powerpoint/2010/main" val="159459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90F7-4791-6200-ECB7-53A29A561EC9}"/>
              </a:ext>
            </a:extLst>
          </p:cNvPr>
          <p:cNvSpPr>
            <a:spLocks noGrp="1"/>
          </p:cNvSpPr>
          <p:nvPr>
            <p:ph type="title"/>
          </p:nvPr>
        </p:nvSpPr>
        <p:spPr>
          <a:xfrm>
            <a:off x="606425" y="260648"/>
            <a:ext cx="8100962" cy="1080120"/>
          </a:xfrm>
        </p:spPr>
        <p:txBody>
          <a:bodyPr/>
          <a:lstStyle/>
          <a:p>
            <a:r>
              <a:rPr lang="en-IN" dirty="0"/>
              <a:t>Result</a:t>
            </a:r>
          </a:p>
        </p:txBody>
      </p:sp>
      <p:sp>
        <p:nvSpPr>
          <p:cNvPr id="3" name="Text Placeholder 2">
            <a:extLst>
              <a:ext uri="{FF2B5EF4-FFF2-40B4-BE49-F238E27FC236}">
                <a16:creationId xmlns:a16="http://schemas.microsoft.com/office/drawing/2014/main" id="{65ABC234-4CCA-B74C-BB09-3EDA524EAA19}"/>
              </a:ext>
            </a:extLst>
          </p:cNvPr>
          <p:cNvSpPr>
            <a:spLocks noGrp="1"/>
          </p:cNvSpPr>
          <p:nvPr>
            <p:ph type="body" idx="1"/>
          </p:nvPr>
        </p:nvSpPr>
        <p:spPr>
          <a:xfrm>
            <a:off x="606425" y="1700808"/>
            <a:ext cx="10888587" cy="4471392"/>
          </a:xfrm>
        </p:spPr>
        <p:txBody>
          <a:bodyPr/>
          <a:lstStyle/>
          <a:p>
            <a:r>
              <a:rPr lang="en-IN" dirty="0"/>
              <a:t>I enjoyed a lot during the learning process of this project. It has helped me a lot in knowing how the industry uses the database in real life, how the data is stored in a non-redundant manner, and how the useful data is fetched from the tables.</a:t>
            </a:r>
          </a:p>
          <a:p>
            <a:r>
              <a:rPr lang="en-IN" dirty="0"/>
              <a:t>To find out the answer to the questions provided in the problem statement I formed the SQL statements, made quite a lot of mistakes, and finally had a better understanding of forming the statements.</a:t>
            </a:r>
          </a:p>
          <a:p>
            <a:r>
              <a:rPr lang="en-IN" dirty="0"/>
              <a:t>I’m learning a lot of new skills throughout this data analyst tour and trying my best to cope with my studies. </a:t>
            </a:r>
          </a:p>
        </p:txBody>
      </p:sp>
    </p:spTree>
    <p:extLst>
      <p:ext uri="{BB962C8B-B14F-4D97-AF65-F5344CB8AC3E}">
        <p14:creationId xmlns:p14="http://schemas.microsoft.com/office/powerpoint/2010/main" val="71663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463DD1-832B-95ED-DE3A-B3B137ABADD0}"/>
              </a:ext>
            </a:extLst>
          </p:cNvPr>
          <p:cNvSpPr txBox="1"/>
          <p:nvPr/>
        </p:nvSpPr>
        <p:spPr>
          <a:xfrm>
            <a:off x="981844" y="1340768"/>
            <a:ext cx="8640960" cy="1384995"/>
          </a:xfrm>
          <a:prstGeom prst="rect">
            <a:avLst/>
          </a:prstGeom>
          <a:noFill/>
        </p:spPr>
        <p:txBody>
          <a:bodyPr wrap="square" rtlCol="0">
            <a:spAutoFit/>
          </a:bodyPr>
          <a:lstStyle/>
          <a:p>
            <a:r>
              <a:rPr lang="en-IN" sz="4400" dirty="0">
                <a:solidFill>
                  <a:schemeClr val="accent1"/>
                </a:solidFill>
              </a:rPr>
              <a:t>THANK </a:t>
            </a:r>
            <a:r>
              <a:rPr lang="en-IN" sz="4800" dirty="0">
                <a:solidFill>
                  <a:schemeClr val="accent1"/>
                </a:solidFill>
              </a:rPr>
              <a:t>YOU</a:t>
            </a:r>
            <a:r>
              <a:rPr lang="en-IN" sz="4400" dirty="0">
                <a:solidFill>
                  <a:schemeClr val="accent1"/>
                </a:solidFill>
              </a:rPr>
              <a:t> </a:t>
            </a:r>
          </a:p>
          <a:p>
            <a:endParaRPr lang="en-IN" dirty="0"/>
          </a:p>
          <a:p>
            <a:endParaRPr lang="en-IN" dirty="0"/>
          </a:p>
        </p:txBody>
      </p:sp>
      <p:sp>
        <p:nvSpPr>
          <p:cNvPr id="3" name="TextBox 2">
            <a:extLst>
              <a:ext uri="{FF2B5EF4-FFF2-40B4-BE49-F238E27FC236}">
                <a16:creationId xmlns:a16="http://schemas.microsoft.com/office/drawing/2014/main" id="{BA285FD4-2660-A03C-1C0C-B822571D41F9}"/>
              </a:ext>
            </a:extLst>
          </p:cNvPr>
          <p:cNvSpPr txBox="1"/>
          <p:nvPr/>
        </p:nvSpPr>
        <p:spPr>
          <a:xfrm>
            <a:off x="981844" y="2492896"/>
            <a:ext cx="3862143" cy="646331"/>
          </a:xfrm>
          <a:prstGeom prst="rect">
            <a:avLst/>
          </a:prstGeom>
          <a:noFill/>
        </p:spPr>
        <p:txBody>
          <a:bodyPr wrap="square" rtlCol="0">
            <a:spAutoFit/>
          </a:bodyPr>
          <a:lstStyle/>
          <a:p>
            <a:r>
              <a:rPr lang="en-IN" dirty="0">
                <a:solidFill>
                  <a:schemeClr val="accent2"/>
                </a:solidFill>
              </a:rPr>
              <a:t>ADITYA SADAKAL</a:t>
            </a:r>
          </a:p>
          <a:p>
            <a:r>
              <a:rPr lang="en-IN" dirty="0">
                <a:solidFill>
                  <a:schemeClr val="accent2"/>
                </a:solidFill>
              </a:rPr>
              <a:t>sadakaditya18@gmail.com</a:t>
            </a:r>
          </a:p>
        </p:txBody>
      </p:sp>
    </p:spTree>
    <p:extLst>
      <p:ext uri="{BB962C8B-B14F-4D97-AF65-F5344CB8AC3E}">
        <p14:creationId xmlns:p14="http://schemas.microsoft.com/office/powerpoint/2010/main" val="2269786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rketing 16x9">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extLst>
    <a:ext uri="{05A4C25C-085E-4340-85A3-A5531E510DB2}">
      <thm15:themeFamily xmlns:thm15="http://schemas.microsoft.com/office/thememl/2012/main" name="Business marketing glass cube presentation (widescreen).potx" id="{454792B9-F7C6-4CDD-89A0-89451A081408}" vid="{E847D748-0CA0-4BC8-838F-3216ECA80016}"/>
    </a:ext>
  </a:ext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marketing glass cube presentation (widescreen)</Template>
  <TotalTime>221</TotalTime>
  <Words>1419</Words>
  <Application>Microsoft Office PowerPoint</Application>
  <PresentationFormat>Custom</PresentationFormat>
  <Paragraphs>87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Bodoni MT</vt:lpstr>
      <vt:lpstr>Corbel</vt:lpstr>
      <vt:lpstr>Marketing 16x9</vt:lpstr>
      <vt:lpstr>Instagram User Analytics</vt:lpstr>
      <vt:lpstr>Data Analytics on Instagram data.</vt:lpstr>
      <vt:lpstr>Approach</vt:lpstr>
      <vt:lpstr>Tech-Stack</vt:lpstr>
      <vt:lpstr>Insights</vt:lpstr>
      <vt:lpstr>PowerPoint Presentation</vt:lpstr>
      <vt:lpstr>PowerPoint Presentation</vt:lpstr>
      <vt:lpstr>PowerPoint Presentation</vt:lpstr>
      <vt:lpstr>Investor Metrics</vt:lpstr>
      <vt:lpstr>Result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 User Analytics</dc:title>
  <dc:creator>Pratik Sadakal</dc:creator>
  <cp:lastModifiedBy>Pratik Sadakal</cp:lastModifiedBy>
  <cp:revision>2</cp:revision>
  <dcterms:created xsi:type="dcterms:W3CDTF">2023-03-04T20:54:07Z</dcterms:created>
  <dcterms:modified xsi:type="dcterms:W3CDTF">2023-03-05T15:12:52Z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